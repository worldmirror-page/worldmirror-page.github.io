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1" r:id="rId3"/>
  </p:sldIdLst>
  <p:sldSz cx="14630400" cy="8778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2879" userDrawn="1">
          <p15:clr>
            <a:srgbClr val="A4A3A4"/>
          </p15:clr>
        </p15:guide>
        <p15:guide id="3" pos="4608" userDrawn="1">
          <p15:clr>
            <a:srgbClr val="A4A3A4"/>
          </p15:clr>
        </p15:guide>
        <p15:guide id="4" orient="horz" pos="26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7"/>
    <a:srgbClr val="1E3C5A"/>
    <a:srgbClr val="031930"/>
    <a:srgbClr val="001934"/>
    <a:srgbClr val="0721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1"/>
        <p:guide pos="2879"/>
        <p:guide pos="4608"/>
        <p:guide orient="horz" pos="269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320" cy="7632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light wordmarks use vector-traced outlines rendered to PNG for broad PowerPoint compatibility. The SVG files in SVG_editable preserve separate paths and embedded globe bytes. These images do not depend on external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0" Type="http://schemas.openxmlformats.org/officeDocument/2006/relationships/notesSlide" Target="../notesSlides/notesSlide1.xm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3" name="组合 12"/>
          <p:cNvGrpSpPr/>
          <p:nvPr/>
        </p:nvGrpSpPr>
        <p:grpSpPr>
          <a:xfrm>
            <a:off x="4715510" y="-19685"/>
            <a:ext cx="6189345" cy="1261745"/>
            <a:chOff x="1112" y="2621"/>
            <a:chExt cx="9747" cy="1987"/>
          </a:xfrm>
        </p:grpSpPr>
        <p:sp>
          <p:nvSpPr>
            <p:cNvPr id="9" name="TextBox 3"/>
            <p:cNvSpPr txBox="1"/>
            <p:nvPr/>
          </p:nvSpPr>
          <p:spPr>
            <a:xfrm>
              <a:off x="1112" y="2621"/>
              <a:ext cx="1548" cy="19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200" b="1">
                  <a:solidFill>
                    <a:schemeClr val="tx2">
                      <a:lumMod val="50000"/>
                    </a:schemeClr>
                  </a:solidFill>
                  <a:latin typeface="Inter"/>
                </a:rPr>
                <a:t>W</a:t>
              </a:r>
              <a:endParaRPr sz="8200" b="1">
                <a:solidFill>
                  <a:schemeClr val="tx2">
                    <a:lumMod val="50000"/>
                  </a:schemeClr>
                </a:solidFill>
                <a:latin typeface="Inter"/>
              </a:endParaRPr>
            </a:p>
          </p:txBody>
        </p:sp>
        <p:pic>
          <p:nvPicPr>
            <p:cNvPr id="10" name="Globe — movable within wordmark" descr="05_globe_icon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67" y="2808"/>
              <a:ext cx="1656" cy="1708"/>
            </a:xfrm>
            <a:prstGeom prst="rect">
              <a:avLst/>
            </a:prstGeom>
          </p:spPr>
        </p:pic>
        <p:sp>
          <p:nvSpPr>
            <p:cNvPr id="11" name="TextBox 5"/>
            <p:cNvSpPr txBox="1"/>
            <p:nvPr/>
          </p:nvSpPr>
          <p:spPr>
            <a:xfrm>
              <a:off x="4001" y="2621"/>
              <a:ext cx="2096" cy="19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200" b="1">
                  <a:solidFill>
                    <a:schemeClr val="tx2">
                      <a:lumMod val="50000"/>
                    </a:schemeClr>
                  </a:solidFill>
                  <a:latin typeface="Inter"/>
                </a:rPr>
                <a:t>rld</a:t>
              </a:r>
              <a:endParaRPr sz="8200" b="1">
                <a:solidFill>
                  <a:schemeClr val="tx2">
                    <a:lumMod val="50000"/>
                  </a:schemeClr>
                </a:solidFill>
                <a:latin typeface="Inter"/>
              </a:endParaRPr>
            </a:p>
          </p:txBody>
        </p:sp>
        <p:sp>
          <p:nvSpPr>
            <p:cNvPr id="12" name="TextBox 6"/>
            <p:cNvSpPr txBox="1"/>
            <p:nvPr/>
          </p:nvSpPr>
          <p:spPr>
            <a:xfrm>
              <a:off x="6121" y="2621"/>
              <a:ext cx="4738" cy="19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algn="l"/>
              <a:r>
                <a:rPr sz="8200" b="1">
                  <a:ln w="15875"/>
                  <a:gradFill>
                    <a:gsLst>
                      <a:gs pos="0">
                        <a:schemeClr val="accent1">
                          <a:lumOff val="-19997"/>
                          <a:satOff val="20000"/>
                        </a:schemeClr>
                      </a:gs>
                      <a:gs pos="100000">
                        <a:schemeClr val="accent1">
                          <a:lumOff val="15000"/>
                          <a:satOff val="-14997"/>
                        </a:schemeClr>
                      </a:gs>
                    </a:gsLst>
                    <a:lin ang="0" scaled="0"/>
                  </a:gradFill>
                  <a:effectLst>
                    <a:reflection blurRad="6350" stA="55000" endA="300" endPos="45500" dir="5400000" sy="-100000" algn="bl" rotWithShape="0"/>
                  </a:effectLst>
                  <a:latin typeface="Inter"/>
                </a:rPr>
                <a:t>Mirror</a:t>
              </a:r>
              <a:endParaRPr sz="8200" b="1">
                <a:ln w="15875"/>
                <a:gradFill>
                  <a:gsLst>
                    <a:gs pos="0">
                      <a:schemeClr val="accent1">
                        <a:lumOff val="-19997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7"/>
                      </a:schemeClr>
                    </a:gs>
                  </a:gsLst>
                  <a:lin ang="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Inter"/>
              </a:endParaRPr>
            </a:p>
          </p:txBody>
        </p:sp>
      </p:grpSp>
      <p:sp>
        <p:nvSpPr>
          <p:cNvPr id="14" name="Editable blank card 1"/>
          <p:cNvSpPr/>
          <p:nvPr/>
        </p:nvSpPr>
        <p:spPr>
          <a:xfrm>
            <a:off x="105410" y="1183640"/>
            <a:ext cx="14424660" cy="7014845"/>
          </a:xfrm>
          <a:prstGeom prst="roundRect">
            <a:avLst>
              <a:gd name="adj" fmla="val 5944"/>
            </a:avLst>
          </a:prstGeom>
          <a:solidFill>
            <a:schemeClr val="bg1">
              <a:alpha val="71000"/>
            </a:schemeClr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>
              <a:buFont typeface="Wingdings" charset="0"/>
              <a:buNone/>
            </a:pPr>
            <a:endParaRPr lang="x-none">
              <a:solidFill>
                <a:schemeClr val="lt1"/>
              </a:solidFill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5160645" y="8175752"/>
            <a:ext cx="2144395" cy="5537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600" b="1">
                <a:solidFill>
                  <a:schemeClr val="tx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Y</a:t>
            </a:r>
            <a:r>
              <a:rPr lang="x-none" sz="3600" b="1">
                <a:solidFill>
                  <a:schemeClr val="tx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es?</a:t>
            </a:r>
            <a:r>
              <a:rPr lang="x-none" sz="3600" b="1">
                <a:solidFill>
                  <a:srgbClr val="ECF4FE"/>
                </a:solidFill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x-none" sz="3600" b="1">
                <a:solidFill>
                  <a:srgbClr val="C00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No!</a:t>
            </a:r>
            <a:endParaRPr lang="x-none" sz="3600" b="1">
              <a:solidFill>
                <a:srgbClr val="C0000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3" name="TextBox 13"/>
          <p:cNvSpPr txBox="1"/>
          <p:nvPr/>
        </p:nvSpPr>
        <p:spPr>
          <a:xfrm>
            <a:off x="11861165" y="8177657"/>
            <a:ext cx="2301240" cy="5537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600" b="1">
                <a:solidFill>
                  <a:schemeClr val="tx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Y</a:t>
            </a:r>
            <a:r>
              <a:rPr lang="x-none" sz="3600" b="1">
                <a:solidFill>
                  <a:schemeClr val="tx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es?</a:t>
            </a:r>
            <a:r>
              <a:rPr lang="x-none" sz="3600" b="1">
                <a:solidFill>
                  <a:schemeClr val="accent6">
                    <a:lumMod val="75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x-none" sz="3600" b="1">
                <a:solidFill>
                  <a:srgbClr val="ECF4FE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x-none" sz="3600" b="1">
                <a:solidFill>
                  <a:srgbClr val="006607"/>
                </a:solidFill>
                <a:latin typeface="Comic Sans MS" panose="030F0702030302020204" charset="0"/>
                <a:cs typeface="Comic Sans MS" panose="030F0702030302020204" charset="0"/>
              </a:rPr>
              <a:t>Yes!</a:t>
            </a:r>
            <a:endParaRPr lang="x-none" sz="3600" b="1">
              <a:solidFill>
                <a:srgbClr val="006607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7" name="TextBox 8"/>
          <p:cNvSpPr txBox="1"/>
          <p:nvPr/>
        </p:nvSpPr>
        <p:spPr>
          <a:xfrm>
            <a:off x="2516505" y="1217930"/>
            <a:ext cx="3046730" cy="69151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3200" b="1">
                <a:solidFill>
                  <a:schemeClr val="tx2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GPT</a:t>
            </a:r>
            <a:r>
              <a:rPr lang="x-none" sz="3200" b="1">
                <a:solidFill>
                  <a:schemeClr val="tx2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-6 </a:t>
            </a:r>
            <a:r>
              <a:rPr sz="3200" b="1">
                <a:solidFill>
                  <a:schemeClr val="tx2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Astra</a:t>
            </a:r>
            <a:endParaRPr sz="3200" b="1">
              <a:solidFill>
                <a:schemeClr val="tx2">
                  <a:lumMod val="50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50" name="图片 49" descr="paused_fra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6209030"/>
            <a:ext cx="3436620" cy="1934210"/>
          </a:xfrm>
          <a:prstGeom prst="rect">
            <a:avLst/>
          </a:prstGeom>
        </p:spPr>
      </p:pic>
      <p:pic>
        <p:nvPicPr>
          <p:cNvPr id="51" name="图片 50" descr="paused_fra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670" y="4037965"/>
            <a:ext cx="3437255" cy="1924050"/>
          </a:xfrm>
          <a:prstGeom prst="rect">
            <a:avLst/>
          </a:prstGeom>
        </p:spPr>
      </p:pic>
      <p:pic>
        <p:nvPicPr>
          <p:cNvPr id="52" name="图片 51" descr="0.6T_01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7695" y="4036695"/>
            <a:ext cx="3410585" cy="1924050"/>
          </a:xfrm>
          <a:prstGeom prst="rect">
            <a:avLst/>
          </a:prstGeom>
        </p:spPr>
      </p:pic>
      <p:pic>
        <p:nvPicPr>
          <p:cNvPr id="23" name="图片 22" descr="0.4T_00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9600" y="6201410"/>
            <a:ext cx="3410585" cy="1938655"/>
          </a:xfrm>
          <a:prstGeom prst="rect">
            <a:avLst/>
          </a:prstGeom>
        </p:spPr>
      </p:pic>
      <p:pic>
        <p:nvPicPr>
          <p:cNvPr id="121" name="图片 120" descr="ChatGPT Image Sep 7, 2026, 03_56_20 PM (1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2040" y="-52705"/>
            <a:ext cx="1202690" cy="1202690"/>
          </a:xfrm>
          <a:prstGeom prst="rect">
            <a:avLst/>
          </a:prstGeom>
        </p:spPr>
      </p:pic>
      <p:pic>
        <p:nvPicPr>
          <p:cNvPr id="129" name="图片 128" descr="ChatGPT Image Sep 7, 2026, 03_56_21 PM (3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1820" y="19685"/>
            <a:ext cx="1332230" cy="133223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95840" y="1219835"/>
            <a:ext cx="2613025" cy="510540"/>
            <a:chOff x="865" y="2509"/>
            <a:chExt cx="4115" cy="804"/>
          </a:xfrm>
        </p:grpSpPr>
        <p:sp>
          <p:nvSpPr>
            <p:cNvPr id="35" name="TextBox 3"/>
            <p:cNvSpPr txBox="1"/>
            <p:nvPr/>
          </p:nvSpPr>
          <p:spPr>
            <a:xfrm>
              <a:off x="865" y="2517"/>
              <a:ext cx="641" cy="77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3200" b="1">
                  <a:solidFill>
                    <a:schemeClr val="tx2">
                      <a:lumMod val="50000"/>
                    </a:schemeClr>
                  </a:solidFill>
                  <a:latin typeface="Arial Black" panose="020B0A04020102020204" charset="0"/>
                  <a:cs typeface="Arial Black" panose="020B0A04020102020204" charset="0"/>
                </a:rPr>
                <a:t>W</a:t>
              </a:r>
              <a:endParaRPr sz="3200" b="1">
                <a:solidFill>
                  <a:schemeClr val="tx2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endParaRPr>
            </a:p>
          </p:txBody>
        </p:sp>
        <p:pic>
          <p:nvPicPr>
            <p:cNvPr id="36" name="Globe — movable within wordmark" descr="05_globe_icon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80" y="2509"/>
              <a:ext cx="709" cy="732"/>
            </a:xfrm>
            <a:prstGeom prst="rect">
              <a:avLst/>
            </a:prstGeom>
          </p:spPr>
        </p:pic>
        <p:sp>
          <p:nvSpPr>
            <p:cNvPr id="37" name="TextBox 5"/>
            <p:cNvSpPr txBox="1"/>
            <p:nvPr/>
          </p:nvSpPr>
          <p:spPr>
            <a:xfrm>
              <a:off x="2150" y="2538"/>
              <a:ext cx="948" cy="77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3200" b="1">
                  <a:solidFill>
                    <a:schemeClr val="tx2">
                      <a:lumMod val="50000"/>
                    </a:schemeClr>
                  </a:solidFill>
                  <a:latin typeface="Arial Black" panose="020B0A04020102020204" charset="0"/>
                  <a:cs typeface="Arial Black" panose="020B0A04020102020204" charset="0"/>
                </a:rPr>
                <a:t>rld</a:t>
              </a:r>
              <a:endParaRPr sz="3200" b="1">
                <a:solidFill>
                  <a:schemeClr val="tx2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endParaRPr>
            </a:p>
          </p:txBody>
        </p:sp>
        <p:sp>
          <p:nvSpPr>
            <p:cNvPr id="38" name="TextBox 6"/>
            <p:cNvSpPr txBox="1"/>
            <p:nvPr/>
          </p:nvSpPr>
          <p:spPr>
            <a:xfrm>
              <a:off x="3131" y="2530"/>
              <a:ext cx="1849" cy="77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algn="l"/>
              <a:r>
                <a:rPr sz="3200" b="1">
                  <a:ln w="15875"/>
                  <a:gradFill>
                    <a:gsLst>
                      <a:gs pos="0">
                        <a:schemeClr val="accent1">
                          <a:lumOff val="-19996"/>
                          <a:satOff val="20000"/>
                        </a:schemeClr>
                      </a:gs>
                      <a:gs pos="100000">
                        <a:schemeClr val="accent1">
                          <a:lumOff val="15000"/>
                          <a:satOff val="-14996"/>
                        </a:schemeClr>
                      </a:gs>
                    </a:gsLst>
                    <a:lin ang="0" scaled="0"/>
                  </a:gradFill>
                  <a:effectLst>
                    <a:reflection blurRad="6350" stA="55000" endA="300" endPos="45500" dir="5400000" sy="-100000" algn="bl" rotWithShape="0"/>
                  </a:effectLst>
                  <a:latin typeface="Inter"/>
                </a:rPr>
                <a:t>Mirror</a:t>
              </a:r>
              <a:endParaRPr sz="3200" b="1">
                <a:ln w="15875"/>
                <a:gradFill>
                  <a:gsLst>
                    <a:gs pos="0">
                      <a:schemeClr val="accent1">
                        <a:lumOff val="-1999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6"/>
                      </a:schemeClr>
                    </a:gs>
                  </a:gsLst>
                  <a:lin ang="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Inter"/>
              </a:endParaRPr>
            </a:p>
          </p:txBody>
        </p:sp>
      </p:grpSp>
      <p:pic>
        <p:nvPicPr>
          <p:cNvPr id="7" name="图片 6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66290" y="1274445"/>
            <a:ext cx="360000" cy="360000"/>
          </a:xfrm>
          <a:prstGeom prst="rect">
            <a:avLst/>
          </a:prstGeom>
        </p:spPr>
      </p:pic>
      <p:pic>
        <p:nvPicPr>
          <p:cNvPr id="25" name="图片 24" descr="ChatGPT Image Sep 10, 2026, 12_00_22 AM (8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0025" y="5233670"/>
            <a:ext cx="720000" cy="720000"/>
          </a:xfrm>
          <a:prstGeom prst="rect">
            <a:avLst/>
          </a:prstGeom>
        </p:spPr>
      </p:pic>
      <p:pic>
        <p:nvPicPr>
          <p:cNvPr id="26" name="图片 25" descr="ChatGPT Image Sep 10, 2026, 12_00_22 AM (7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58190" y="5255895"/>
            <a:ext cx="720000" cy="720000"/>
          </a:xfrm>
          <a:prstGeom prst="rect">
            <a:avLst/>
          </a:prstGeom>
        </p:spPr>
      </p:pic>
      <p:pic>
        <p:nvPicPr>
          <p:cNvPr id="27" name="图片 26" descr="0.6T_01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625" y="4037965"/>
            <a:ext cx="3404235" cy="1922145"/>
          </a:xfrm>
          <a:prstGeom prst="rect">
            <a:avLst/>
          </a:prstGeom>
        </p:spPr>
      </p:pic>
      <p:pic>
        <p:nvPicPr>
          <p:cNvPr id="39" name="图片 38" descr="match_pic1_real_f01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2825" y="4036695"/>
            <a:ext cx="3406775" cy="1924685"/>
          </a:xfrm>
          <a:prstGeom prst="rect">
            <a:avLst/>
          </a:prstGeom>
        </p:spPr>
      </p:pic>
      <p:pic>
        <p:nvPicPr>
          <p:cNvPr id="40" name="图片 39" descr="ChatGPT Image Sep 10, 2026, 12_00_22 AM (8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090" y="7420610"/>
            <a:ext cx="720000" cy="720000"/>
          </a:xfrm>
          <a:prstGeom prst="rect">
            <a:avLst/>
          </a:prstGeom>
        </p:spPr>
      </p:pic>
      <p:pic>
        <p:nvPicPr>
          <p:cNvPr id="41" name="图片 40" descr="ChatGPT Image Sep 10, 2026, 12_00_22 AM (7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53110" y="7412355"/>
            <a:ext cx="720000" cy="720000"/>
          </a:xfrm>
          <a:prstGeom prst="rect">
            <a:avLst/>
          </a:prstGeom>
        </p:spPr>
      </p:pic>
      <p:pic>
        <p:nvPicPr>
          <p:cNvPr id="42" name="图片 41" descr="ChatGPT Image Sep 10, 2026, 12_00_22 AM (5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0055" y="6209030"/>
            <a:ext cx="3420745" cy="1931035"/>
          </a:xfrm>
          <a:prstGeom prst="rect">
            <a:avLst/>
          </a:prstGeom>
        </p:spPr>
      </p:pic>
      <p:sp>
        <p:nvSpPr>
          <p:cNvPr id="28" name="圆角矩形 27"/>
          <p:cNvSpPr/>
          <p:nvPr/>
        </p:nvSpPr>
        <p:spPr>
          <a:xfrm>
            <a:off x="1650365" y="6777355"/>
            <a:ext cx="602615" cy="585470"/>
          </a:xfrm>
          <a:prstGeom prst="roundRect">
            <a:avLst>
              <a:gd name="adj" fmla="val 50000"/>
            </a:avLst>
          </a:prstGeom>
          <a:ln w="57150">
            <a:solidFill>
              <a:srgbClr val="FFC000"/>
            </a:solidFill>
            <a:prstDash val="sysDot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>
            <a:off x="5441315" y="7518400"/>
            <a:ext cx="608965" cy="592455"/>
          </a:xfrm>
          <a:prstGeom prst="roundRect">
            <a:avLst>
              <a:gd name="adj" fmla="val 50000"/>
            </a:avLst>
          </a:prstGeom>
          <a:ln w="57150">
            <a:solidFill>
              <a:srgbClr val="FFC000"/>
            </a:solidFill>
            <a:prstDash val="sysDot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 rot="360000">
            <a:off x="2429510" y="7498715"/>
            <a:ext cx="2875280" cy="889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p>
            <a:endParaRPr lang="zh-CN" altLang="en-US">
              <a:solidFill>
                <a:srgbClr val="FFC000"/>
              </a:solidFill>
            </a:endParaRPr>
          </a:p>
        </p:txBody>
      </p:sp>
      <p:pic>
        <p:nvPicPr>
          <p:cNvPr id="49" name="图片 48" descr="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62190" y="6201410"/>
            <a:ext cx="3405505" cy="194310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2423795" y="4895215"/>
            <a:ext cx="4292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Low Visual Realism</a:t>
            </a:r>
            <a:r>
              <a:rPr lang="x-none" altLang="en-US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!</a:t>
            </a:r>
            <a:endParaRPr lang="x-none" altLang="en-US" sz="2400" b="1">
              <a:solidFill>
                <a:srgbClr val="FFC000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59" name="单圆角矩形 58"/>
          <p:cNvSpPr/>
          <p:nvPr/>
        </p:nvSpPr>
        <p:spPr>
          <a:xfrm>
            <a:off x="426720" y="3843655"/>
            <a:ext cx="1656080" cy="391795"/>
          </a:xfrm>
          <a:prstGeom prst="round1Rect">
            <a:avLst>
              <a:gd name="adj" fmla="val 3192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x-none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Visual Fidelity</a:t>
            </a:r>
            <a:endParaRPr lang="x-none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791575" y="4898390"/>
            <a:ext cx="5271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Photorealistic</a:t>
            </a:r>
            <a:r>
              <a:rPr lang="en-US" altLang="zh-CN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</a:t>
            </a:r>
            <a:r>
              <a:rPr lang="x-none" altLang="en-US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Reconstruction!</a:t>
            </a:r>
            <a:endParaRPr lang="x-none" altLang="en-US" sz="2400" b="1">
              <a:solidFill>
                <a:srgbClr val="FFC000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426970" y="6911975"/>
            <a:ext cx="3834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Unstable Interaction</a:t>
            </a:r>
            <a:r>
              <a:rPr lang="x-none" altLang="en-US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!</a:t>
            </a:r>
            <a:endParaRPr lang="x-none" altLang="en-US" sz="2400" b="1">
              <a:solidFill>
                <a:srgbClr val="FFC000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258935" y="6911975"/>
            <a:ext cx="3834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Physical</a:t>
            </a:r>
            <a:r>
              <a:rPr lang="en-US" altLang="zh-CN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</a:t>
            </a:r>
            <a:r>
              <a:rPr lang="x-none" altLang="en-US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Consistency!</a:t>
            </a:r>
            <a:endParaRPr lang="x-none" altLang="en-US" sz="2400" b="1">
              <a:solidFill>
                <a:srgbClr val="FFC000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62" name="单圆角矩形 61"/>
          <p:cNvSpPr/>
          <p:nvPr/>
        </p:nvSpPr>
        <p:spPr>
          <a:xfrm>
            <a:off x="429895" y="6017895"/>
            <a:ext cx="3281045" cy="391795"/>
          </a:xfrm>
          <a:prstGeom prst="round1Rect">
            <a:avLst>
              <a:gd name="adj" fmla="val 3192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x-none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Collision &amp; Physical Consistency</a:t>
            </a:r>
            <a:endParaRPr lang="x-none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3" name="单圆角矩形 62"/>
          <p:cNvSpPr/>
          <p:nvPr/>
        </p:nvSpPr>
        <p:spPr>
          <a:xfrm>
            <a:off x="7355840" y="3846830"/>
            <a:ext cx="1656080" cy="391795"/>
          </a:xfrm>
          <a:prstGeom prst="round1Rect">
            <a:avLst>
              <a:gd name="adj" fmla="val 3192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x-none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Visual Fidelity</a:t>
            </a:r>
            <a:endParaRPr lang="x-none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4" name="单圆角矩形 63"/>
          <p:cNvSpPr/>
          <p:nvPr/>
        </p:nvSpPr>
        <p:spPr>
          <a:xfrm>
            <a:off x="7359015" y="6021070"/>
            <a:ext cx="3281045" cy="391795"/>
          </a:xfrm>
          <a:prstGeom prst="round1Rect">
            <a:avLst>
              <a:gd name="adj" fmla="val 3192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x-none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Collision &amp; Physical Consistency</a:t>
            </a:r>
            <a:endParaRPr lang="x-none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65" name="图片 64" descr="gpt_astra_frame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36670" y="1857375"/>
            <a:ext cx="3445510" cy="1911985"/>
          </a:xfrm>
          <a:prstGeom prst="rect">
            <a:avLst/>
          </a:prstGeom>
        </p:spPr>
      </p:pic>
      <p:pic>
        <p:nvPicPr>
          <p:cNvPr id="66" name="图片 65" descr="real_frame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4975" y="1857375"/>
            <a:ext cx="3397885" cy="1911985"/>
          </a:xfrm>
          <a:prstGeom prst="rect">
            <a:avLst/>
          </a:prstGeom>
        </p:spPr>
      </p:pic>
      <p:pic>
        <p:nvPicPr>
          <p:cNvPr id="67" name="图片 66" descr="real_frame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43140" y="1857375"/>
            <a:ext cx="3397885" cy="1911985"/>
          </a:xfrm>
          <a:prstGeom prst="rect">
            <a:avLst/>
          </a:prstGeom>
        </p:spPr>
      </p:pic>
      <p:pic>
        <p:nvPicPr>
          <p:cNvPr id="68" name="图片 67" descr="scenetwin_frame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41025" y="1857375"/>
            <a:ext cx="3406140" cy="1915795"/>
          </a:xfrm>
          <a:prstGeom prst="rect">
            <a:avLst/>
          </a:prstGeom>
        </p:spPr>
      </p:pic>
      <p:sp>
        <p:nvSpPr>
          <p:cNvPr id="69" name="单圆角矩形 68"/>
          <p:cNvSpPr/>
          <p:nvPr/>
        </p:nvSpPr>
        <p:spPr>
          <a:xfrm>
            <a:off x="429895" y="1667510"/>
            <a:ext cx="1973580" cy="391795"/>
          </a:xfrm>
          <a:prstGeom prst="round1Rect">
            <a:avLst>
              <a:gd name="adj" fmla="val 3192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x-none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Spatial Structure</a:t>
            </a:r>
            <a:endParaRPr lang="x-none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0" name="单圆角矩形 69"/>
          <p:cNvSpPr/>
          <p:nvPr/>
        </p:nvSpPr>
        <p:spPr>
          <a:xfrm>
            <a:off x="7342505" y="1654175"/>
            <a:ext cx="1973580" cy="391795"/>
          </a:xfrm>
          <a:prstGeom prst="round1Rect">
            <a:avLst>
              <a:gd name="adj" fmla="val 3192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x-none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Spatial Structure</a:t>
            </a:r>
            <a:endParaRPr lang="x-none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1" name="图片 70" descr="ChatGPT Image Sep 10, 2026, 12_00_22 AM (7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28345" y="3046730"/>
            <a:ext cx="720000" cy="720000"/>
          </a:xfrm>
          <a:prstGeom prst="rect">
            <a:avLst/>
          </a:prstGeom>
        </p:spPr>
      </p:pic>
      <p:pic>
        <p:nvPicPr>
          <p:cNvPr id="72" name="图片 71" descr="ChatGPT Image Sep 10, 2026, 12_00_22 AM (7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3360" y="3058160"/>
            <a:ext cx="720000" cy="72000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2426970" y="2562225"/>
            <a:ext cx="4292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Accurate</a:t>
            </a:r>
            <a:r>
              <a:rPr lang="en-US" altLang="zh-CN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</a:t>
            </a:r>
            <a:r>
              <a:rPr lang="x-none" altLang="en-US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Layout!</a:t>
            </a:r>
            <a:endParaRPr lang="x-none" altLang="en-US" sz="2400" b="1">
              <a:solidFill>
                <a:srgbClr val="FFC000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9331325" y="2565400"/>
            <a:ext cx="42926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Accurate</a:t>
            </a:r>
            <a:r>
              <a:rPr lang="en-US" altLang="zh-CN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</a:t>
            </a:r>
            <a:r>
              <a:rPr lang="x-none" altLang="en-US" sz="2400" b="1">
                <a:solidFill>
                  <a:srgbClr val="FFC00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Layout!</a:t>
            </a:r>
            <a:endParaRPr lang="x-none" altLang="en-US" sz="2400" b="1">
              <a:solidFill>
                <a:srgbClr val="FFC000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WPS 演示</Application>
  <PresentationFormat>On-screen Show (4:3)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0" baseType="lpstr">
      <vt:lpstr>Arial</vt:lpstr>
      <vt:lpstr>宋体</vt:lpstr>
      <vt:lpstr>Wingdings</vt:lpstr>
      <vt:lpstr>Arial</vt:lpstr>
      <vt:lpstr>Inter</vt:lpstr>
      <vt:lpstr>Gubbi</vt:lpstr>
      <vt:lpstr>Comic Sans MS</vt:lpstr>
      <vt:lpstr>Wingdings</vt:lpstr>
      <vt:lpstr>Arial Black</vt:lpstr>
      <vt:lpstr>Bitstream Charter</vt:lpstr>
      <vt:lpstr>微软雅黑</vt:lpstr>
      <vt:lpstr>宋体</vt:lpstr>
      <vt:lpstr>Arial Unicode MS</vt:lpstr>
      <vt:lpstr>Calibri</vt:lpstr>
      <vt:lpstr>Trebuchet MS</vt:lpstr>
      <vt:lpstr>Noto Serif CJK SC</vt:lpstr>
      <vt:lpstr>DejaVu Sans</vt:lpstr>
      <vt:lpstr>OpenSymbol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pc</cp:lastModifiedBy>
  <cp:revision>5</cp:revision>
  <dcterms:created xsi:type="dcterms:W3CDTF">2026-09-09T18:25:07Z</dcterms:created>
  <dcterms:modified xsi:type="dcterms:W3CDTF">2026-09-09T18:25:07Z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B489D47993E81DFA82A4A16A0B131627_42</vt:lpwstr>
  </property>
  <property fmtid="{D5CDD505-2E9C-101B-9397-08002B2CF9AE}" pid="3" name="KSOProductBuildVer">
    <vt:lpwstr>2052-12.1.2.28080</vt:lpwstr>
  </property>
</Properties>
</file>